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알고리즘 상세" id="{0e8fdb6c-652b-ca89-ed9b-7e6f5cffc338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깊이 점수</c:v>
                </c:pt>
              </c:strCache>
            </c:strRef>
          </c:tx>
          <c:spPr>
            <a:solidFill>
              <a:srgbClr val="2B3AD1"/>
            </a:solidFill>
            <a:ln w="38100" cap="flat">
              <a:solidFill>
                <a:srgbClr val="2B3A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3AD1"/>
              </a:solidFill>
              <a:ln w="9525" cap="flat">
                <a:solidFill>
                  <a:srgbClr val="2B3A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90</c:v>
                  </c:pt>
                  <c:pt idx="1">
                    <c:v>95</c:v>
                  </c:pt>
                  <c:pt idx="2">
                    <c:v>100</c:v>
                  </c:pt>
                  <c:pt idx="3">
                    <c:v>105</c:v>
                  </c:pt>
                  <c:pt idx="4">
                    <c:v>110</c:v>
                  </c:pt>
                  <c:pt idx="5">
                    <c:v>115</c:v>
                  </c:pt>
                  <c:pt idx="6">
                    <c:v>120</c:v>
                  </c:pt>
                  <c:pt idx="7">
                    <c:v>125</c:v>
                  </c:pt>
                  <c:pt idx="8">
                    <c:v>130</c:v>
                  </c:pt>
                  <c:pt idx="9">
                    <c:v>135</c:v>
                  </c:pt>
                  <c:pt idx="10">
                    <c:v>140</c:v>
                  </c:pt>
                  <c:pt idx="11">
                    <c:v>145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87</c:v>
                </c:pt>
                <c:pt idx="4">
                  <c:v>73</c:v>
                </c:pt>
                <c:pt idx="5">
                  <c:v>60</c:v>
                </c:pt>
                <c:pt idx="6">
                  <c:v>50</c:v>
                </c:pt>
                <c:pt idx="7">
                  <c:v>40</c:v>
                </c:pt>
                <c:pt idx="8">
                  <c:v>30</c:v>
                </c:pt>
                <c:pt idx="9">
                  <c:v>20</c:v>
                </c:pt>
                <c:pt idx="10">
                  <c:v>10</c:v>
                </c:pt>
                <c:pt idx="11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80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7A8099"/>
                    </a:solidFill>
                    <a:latin typeface="+mn-lt"/>
                  </a:rPr>
                  <a:t>가장 깊을 때 무릎각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0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D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80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7A8099"/>
                    </a:solidFill>
                    <a:latin typeface="+mn-lt"/>
                  </a:rPr>
                  <a:t>점수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0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상체 자세 점수</c:v>
                </c:pt>
              </c:strCache>
            </c:strRef>
          </c:tx>
          <c:spPr>
            <a:solidFill>
              <a:srgbClr val="2B3AD1"/>
            </a:solidFill>
            <a:ln w="38100" cap="flat">
              <a:solidFill>
                <a:srgbClr val="2B3A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3AD1"/>
              </a:solidFill>
              <a:ln w="9525" cap="flat">
                <a:solidFill>
                  <a:srgbClr val="2B3A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</c:v>
                  </c:pt>
                  <c:pt idx="1">
                    <c:v>25</c:v>
                  </c:pt>
                  <c:pt idx="2">
                    <c:v>30</c:v>
                  </c:pt>
                  <c:pt idx="3">
                    <c:v>35</c:v>
                  </c:pt>
                  <c:pt idx="4">
                    <c:v>40</c:v>
                  </c:pt>
                  <c:pt idx="5">
                    <c:v>45</c:v>
                  </c:pt>
                  <c:pt idx="6">
                    <c:v>50</c:v>
                  </c:pt>
                  <c:pt idx="7">
                    <c:v>55</c:v>
                  </c:pt>
                  <c:pt idx="8">
                    <c:v>60</c:v>
                  </c:pt>
                  <c:pt idx="9">
                    <c:v>65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80</c:v>
                </c:pt>
                <c:pt idx="5">
                  <c:v>60</c:v>
                </c:pt>
                <c:pt idx="6">
                  <c:v>45</c:v>
                </c:pt>
                <c:pt idx="7">
                  <c:v>30</c:v>
                </c:pt>
                <c:pt idx="8">
                  <c:v>15</c:v>
                </c:pt>
                <c:pt idx="9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80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7A8099"/>
                    </a:solidFill>
                    <a:latin typeface="+mn-lt"/>
                  </a:rPr>
                  <a:t>회차 평균 체간 기울기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0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D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80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7A8099"/>
                    </a:solidFill>
                    <a:latin typeface="+mn-lt"/>
                  </a:rPr>
                  <a:t>점수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0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싱크로율</c:v>
                </c:pt>
              </c:strCache>
            </c:strRef>
          </c:tx>
          <c:spPr>
            <a:solidFill>
              <a:srgbClr val="2B3AD1"/>
            </a:solidFill>
            <a:ln w="38100" cap="flat">
              <a:solidFill>
                <a:srgbClr val="2B3A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3AD1"/>
              </a:solidFill>
              <a:ln w="9525" cap="flat">
                <a:solidFill>
                  <a:srgbClr val="2B3A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72</c:v>
                </c:pt>
                <c:pt idx="2">
                  <c:v>51</c:v>
                </c:pt>
                <c:pt idx="3">
                  <c:v>37</c:v>
                </c:pt>
                <c:pt idx="4">
                  <c:v>26</c:v>
                </c:pt>
                <c:pt idx="5">
                  <c:v>19</c:v>
                </c:pt>
                <c:pt idx="6">
                  <c:v>14</c:v>
                </c:pt>
                <c:pt idx="7">
                  <c:v>10</c:v>
                </c:pt>
                <c:pt idx="8">
                  <c:v>7</c:v>
                </c:pt>
                <c:pt idx="9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80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7A8099"/>
                    </a:solidFill>
                    <a:latin typeface="+mn-lt"/>
                  </a:rPr>
                  <a:t>평균 거리 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0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D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809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7A8099"/>
                    </a:solidFill>
                    <a:latin typeface="+mn-lt"/>
                  </a:rPr>
                  <a:t>싱크로율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0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관절각은 세 점 사이의 벡터 내적으로, 체간 기울기는 어깨-엉덩이 중점 벡터의 수직 대비 각도로 계산합니다. 횟수는 서기→내려가기→바닥→올라오기 순서가 모두 지켜진 동작만 1회로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점수 모두 '기준까지는 만점, 벗어나면 완만하게 감점'하는 구간별 함수입니다. 깊이 100°·115°, 체간 35°·45° 경계는 문헌과 실촬영 보정을 근거로 정했고, 런지 체간·보폭 경계는 아직 검증 중인 값이라고 밝혀야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DTW는 속도가 다른 두 동작의 같은 순간끼리 짝지어 거리를 구합니다. 관절각 4개(양 무릎·양 엉덩이)를 각각 계산해 평균하고, 거리를 100·e^(−d/30)로 0~100 점수로 바꿉니다. 이 값은 기준 동작과의 유사도일 뿐, 자세가 올바른지는 깊이·체간 점수가 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알고리즘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25603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HO-PT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5486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영상을 숫자로 바꾸는 방법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프레임 입력  →  MediaPipe 관절 33개  →  각도·기울기 계산  →  횟수 세기</a:t>
            </a:r>
            <a:endParaRPr lang="en-US" sz="1600" dirty="0"/>
          </a:p>
        </p:txBody>
      </p:sp>
      <p:sp>
        <p:nvSpPr>
          <p:cNvPr id="4" name="카드 관절각"/>
          <p:cNvSpPr/>
          <p:nvPr/>
        </p:nvSpPr>
        <p:spPr>
          <a:xfrm>
            <a:off x="548640" y="2011680"/>
            <a:ext cx="3566160" cy="41605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번호 1"/>
          <p:cNvSpPr/>
          <p:nvPr/>
        </p:nvSpPr>
        <p:spPr>
          <a:xfrm>
            <a:off x="777240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94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관절각 θ</a:t>
            </a:r>
            <a:endParaRPr lang="en-US" sz="2000" dirty="0"/>
          </a:p>
        </p:txBody>
      </p:sp>
      <p:sp>
        <p:nvSpPr>
          <p:cNvPr id="8" name="허벅지"/>
          <p:cNvSpPr/>
          <p:nvPr/>
        </p:nvSpPr>
        <p:spPr>
          <a:xfrm>
            <a:off x="1691640" y="2880360"/>
            <a:ext cx="91440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9" name="정강이"/>
          <p:cNvSpPr/>
          <p:nvPr/>
        </p:nvSpPr>
        <p:spPr>
          <a:xfrm flipV="1">
            <a:off x="1783080" y="3520440"/>
            <a:ext cx="82296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0" name="관절점"/>
          <p:cNvSpPr/>
          <p:nvPr/>
        </p:nvSpPr>
        <p:spPr>
          <a:xfrm>
            <a:off x="1600200" y="278892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관절점"/>
          <p:cNvSpPr/>
          <p:nvPr/>
        </p:nvSpPr>
        <p:spPr>
          <a:xfrm>
            <a:off x="2514600" y="342900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관절점"/>
          <p:cNvSpPr/>
          <p:nvPr/>
        </p:nvSpPr>
        <p:spPr>
          <a:xfrm>
            <a:off x="1691640" y="406908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523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엉덩이 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33924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무릎 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325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발목 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36499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endParaRPr lang="en-US" sz="2000" dirty="0"/>
          </a:p>
        </p:txBody>
      </p:sp>
      <p:sp>
        <p:nvSpPr>
          <p:cNvPr id="17" name="수식 관절각"/>
          <p:cNvSpPr txBox="1"/>
          <p:nvPr/>
        </p:nvSpPr>
        <p:spPr>
          <a:xfrm>
            <a:off x="822960" y="4343400"/>
            <a:ext cx="30175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= arccos( BA·BC / |BA||BC| 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엉덩이–무릎–발목 세 점이 만드는 무릎 굽힘 각도입니다. 런지는 앞무릎을 씁니다.</a:t>
            </a:r>
            <a:endParaRPr lang="en-US" sz="1400" dirty="0"/>
          </a:p>
        </p:txBody>
      </p:sp>
      <p:sp>
        <p:nvSpPr>
          <p:cNvPr id="19" name="카드 체간"/>
          <p:cNvSpPr/>
          <p:nvPr/>
        </p:nvSpPr>
        <p:spPr>
          <a:xfrm>
            <a:off x="4311396" y="2011680"/>
            <a:ext cx="3566160" cy="41605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번호 2"/>
          <p:cNvSpPr/>
          <p:nvPr/>
        </p:nvSpPr>
        <p:spPr>
          <a:xfrm>
            <a:off x="4539996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999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42916" y="2194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체간 기울기 φ</a:t>
            </a:r>
            <a:endParaRPr lang="en-US" sz="2000" dirty="0"/>
          </a:p>
        </p:txBody>
      </p:sp>
      <p:sp>
        <p:nvSpPr>
          <p:cNvPr id="23" name="수직선"/>
          <p:cNvSpPr/>
          <p:nvPr/>
        </p:nvSpPr>
        <p:spPr>
          <a:xfrm>
            <a:off x="5728716" y="2834640"/>
            <a:ext cx="0" cy="1325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24" name="몸통선"/>
          <p:cNvSpPr/>
          <p:nvPr/>
        </p:nvSpPr>
        <p:spPr>
          <a:xfrm flipV="1">
            <a:off x="5728716" y="2971800"/>
            <a:ext cx="685800" cy="11887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25" name="관절점"/>
          <p:cNvSpPr/>
          <p:nvPr/>
        </p:nvSpPr>
        <p:spPr>
          <a:xfrm>
            <a:off x="6323076" y="288036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관절점"/>
          <p:cNvSpPr/>
          <p:nvPr/>
        </p:nvSpPr>
        <p:spPr>
          <a:xfrm>
            <a:off x="5637276" y="406908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79108" y="2843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어깨 중점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893308" y="4032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엉덩이 중점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820156" y="32918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</a:t>
            </a:r>
            <a:endParaRPr lang="en-US" sz="2000" dirty="0"/>
          </a:p>
        </p:txBody>
      </p:sp>
      <p:sp>
        <p:nvSpPr>
          <p:cNvPr id="30" name="수식 체간"/>
          <p:cNvSpPr txBox="1"/>
          <p:nvPr/>
        </p:nvSpPr>
        <p:spPr>
          <a:xfrm>
            <a:off x="4585716" y="4343400"/>
            <a:ext cx="30175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 = atan2( |Δx| , Δy 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85716" y="4937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어깨 중점과 엉덩이 중점을 잇는 선이 수직과 이루는 각입니다. 0°이면 완전 직립입니다.</a:t>
            </a:r>
            <a:endParaRPr lang="en-US" sz="1400" dirty="0"/>
          </a:p>
        </p:txBody>
      </p:sp>
      <p:sp>
        <p:nvSpPr>
          <p:cNvPr id="32" name="카드 횟수 세기"/>
          <p:cNvSpPr/>
          <p:nvPr/>
        </p:nvSpPr>
        <p:spPr>
          <a:xfrm>
            <a:off x="8074152" y="2011680"/>
            <a:ext cx="3566160" cy="41605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번호 3"/>
          <p:cNvSpPr/>
          <p:nvPr/>
        </p:nvSpPr>
        <p:spPr>
          <a:xfrm>
            <a:off x="8302752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0275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805672" y="2194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횟수 세기</a:t>
            </a:r>
            <a:endParaRPr lang="en-US" sz="2000" dirty="0"/>
          </a:p>
        </p:txBody>
      </p:sp>
      <p:sp>
        <p:nvSpPr>
          <p:cNvPr id="36" name="상태 1"/>
          <p:cNvSpPr txBox="1"/>
          <p:nvPr/>
        </p:nvSpPr>
        <p:spPr>
          <a:xfrm>
            <a:off x="8485632" y="2834640"/>
            <a:ext cx="27432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서기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85632" y="3200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상태 2"/>
          <p:cNvSpPr txBox="1"/>
          <p:nvPr/>
        </p:nvSpPr>
        <p:spPr>
          <a:xfrm>
            <a:off x="8485632" y="3364992"/>
            <a:ext cx="27432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내려가기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85632" y="3730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▼</a:t>
            </a:r>
            <a:endParaRPr lang="en-US" sz="1000" dirty="0"/>
          </a:p>
        </p:txBody>
      </p:sp>
      <p:sp>
        <p:nvSpPr>
          <p:cNvPr id="40" name="상태 3"/>
          <p:cNvSpPr txBox="1"/>
          <p:nvPr/>
        </p:nvSpPr>
        <p:spPr>
          <a:xfrm>
            <a:off x="8485632" y="3895344"/>
            <a:ext cx="27432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바닥 (무릎각 ≤ 100°)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485632" y="4261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상태 4"/>
          <p:cNvSpPr txBox="1"/>
          <p:nvPr/>
        </p:nvSpPr>
        <p:spPr>
          <a:xfrm>
            <a:off x="8485632" y="4425696"/>
            <a:ext cx="27432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올라오기  →  1회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348472" y="4937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충분히 내려가지 않은 동작은 횟수에서 제외하고, 3프레임 평활화로 흔들림을 줄입니다.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5486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점수는 이렇게 계산한다</a:t>
            </a:r>
            <a:endParaRPr lang="en-US" sz="3400" dirty="0"/>
          </a:p>
        </p:txBody>
      </p:sp>
      <p:sp>
        <p:nvSpPr>
          <p:cNvPr id="3" name="카드 깊이 점수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깊이 점수 (스쿼트)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5740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수식 깊이"/>
          <p:cNvSpPr txBox="1"/>
          <p:nvPr/>
        </p:nvSpPr>
        <p:spPr>
          <a:xfrm>
            <a:off x="822960" y="4297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무릎각 ≤ 100°  →  100점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100° ~ 115°  →  100 − (무릎각 − 100) / 15 × 40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115° 초과  →  max( 0 , 60 − (무릎각 − 115) × 2 )</a:t>
            </a:r>
            <a:endParaRPr lang="en-US" sz="1400" dirty="0"/>
          </a:p>
        </p:txBody>
      </p:sp>
      <p:sp>
        <p:nvSpPr>
          <p:cNvPr id="7" name="카드 체간 점수"/>
          <p:cNvSpPr/>
          <p:nvPr/>
        </p:nvSpPr>
        <p:spPr>
          <a:xfrm>
            <a:off x="6245352" y="146304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19672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상체 자세 점수</a:t>
            </a:r>
            <a:endParaRPr lang="en-US" sz="2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28232" y="2057400"/>
          <a:ext cx="5029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수식 체간 점수"/>
          <p:cNvSpPr txBox="1"/>
          <p:nvPr/>
        </p:nvSpPr>
        <p:spPr>
          <a:xfrm>
            <a:off x="6519672" y="42976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기울기 ≤ 35°  →  100점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35° ~ 45°  →  100 − (기울기 − 35) / 10 × 40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45° 초과  →  max( 0 , 60 − (기울기 − 45) × 3 )</a:t>
            </a:r>
            <a:endParaRPr lang="en-US" sz="1400" dirty="0"/>
          </a:p>
        </p:txBody>
      </p:sp>
      <p:sp>
        <p:nvSpPr>
          <p:cNvPr id="11" name="각주"/>
          <p:cNvSpPr txBox="1"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회차별 점수의 평균 = 세션 점수  ·  등급은 90 / 75 / 60 / 40점 기준 5단계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근거: FMS Deep Squat, Straub(IJSPT)  ·  런지 기준은 검증 중인 잠정값입니다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548640" y="5486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속도가 달라도 동작을 비교한다</a:t>
            </a:r>
            <a:endParaRPr lang="en-US" sz="3400" dirty="0"/>
          </a:p>
        </p:txBody>
      </p:sp>
      <p:sp>
        <p:nvSpPr>
          <p:cNvPr id="3" name="카드 DTW"/>
          <p:cNvSpPr/>
          <p:nvPr/>
        </p:nvSpPr>
        <p:spPr>
          <a:xfrm>
            <a:off x="548640" y="1463040"/>
            <a:ext cx="667512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DTW 거리 → 싱크로율</a:t>
            </a:r>
            <a:endParaRPr lang="en-US" sz="2000" dirty="0"/>
          </a:p>
        </p:txBody>
      </p:sp>
      <p:sp>
        <p:nvSpPr>
          <p:cNvPr id="5" name="수식 DTW"/>
          <p:cNvSpPr txBox="1"/>
          <p:nvPr/>
        </p:nvSpPr>
        <p:spPr>
          <a:xfrm>
            <a:off x="822960" y="2103120"/>
            <a:ext cx="6126480" cy="1508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D(i, j) = d(i, j) + min( D(i−1, j), D(i, j−1), D(i−1, j−1) 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탐색 범위  |i − j| ≤ 10   (Sakoe-Chiba 밴드)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accent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관절각 4개를 각각 DTW 한 뒤 평균 거리 d 를 구함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싱크로율 = 100 × exp( −d / 30 )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3749040"/>
          <a:ext cx="6309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카드 사용 기술"/>
          <p:cNvSpPr/>
          <p:nvPr/>
        </p:nvSpPr>
        <p:spPr>
          <a:xfrm>
            <a:off x="7498080" y="1463040"/>
            <a:ext cx="4142232" cy="4526280"/>
          </a:xfrm>
          <a:prstGeom prst="roundRect">
            <a:avLst>
              <a:gd name="adj" fmla="val 26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사용 기술</a:t>
            </a:r>
            <a:endParaRPr lang="en-US" sz="2000" dirty="0"/>
          </a:p>
        </p:txBody>
      </p:sp>
      <p:sp>
        <p:nvSpPr>
          <p:cNvPr id="9" name="점 1"/>
          <p:cNvSpPr/>
          <p:nvPr/>
        </p:nvSpPr>
        <p:spPr>
          <a:xfrm>
            <a:off x="7772400" y="22585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기술 1"/>
          <p:cNvSpPr txBox="1"/>
          <p:nvPr/>
        </p:nvSpPr>
        <p:spPr>
          <a:xfrm>
            <a:off x="8092440" y="214884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MediaPipe Pose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관절 33개 추출</a:t>
            </a:r>
            <a:endParaRPr lang="en-US" sz="1400" dirty="0"/>
          </a:p>
        </p:txBody>
      </p:sp>
      <p:sp>
        <p:nvSpPr>
          <p:cNvPr id="11" name="점 2"/>
          <p:cNvSpPr/>
          <p:nvPr/>
        </p:nvSpPr>
        <p:spPr>
          <a:xfrm>
            <a:off x="7772400" y="28072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기술 2"/>
          <p:cNvSpPr txBox="1"/>
          <p:nvPr/>
        </p:nvSpPr>
        <p:spPr>
          <a:xfrm>
            <a:off x="8092440" y="269748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OpenCV · NumPy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이미지 처리, 각도 계산</a:t>
            </a:r>
            <a:endParaRPr lang="en-US" sz="1400" dirty="0"/>
          </a:p>
        </p:txBody>
      </p:sp>
      <p:sp>
        <p:nvSpPr>
          <p:cNvPr id="13" name="점 3"/>
          <p:cNvSpPr/>
          <p:nvPr/>
        </p:nvSpPr>
        <p:spPr>
          <a:xfrm>
            <a:off x="7772400" y="335584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기술 3"/>
          <p:cNvSpPr txBox="1"/>
          <p:nvPr/>
        </p:nvSpPr>
        <p:spPr>
          <a:xfrm>
            <a:off x="8092440" y="3246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dtaidistance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DTW 거리 계산</a:t>
            </a:r>
            <a:endParaRPr lang="en-US" sz="1400" dirty="0"/>
          </a:p>
        </p:txBody>
      </p:sp>
      <p:sp>
        <p:nvSpPr>
          <p:cNvPr id="15" name="점 4"/>
          <p:cNvSpPr/>
          <p:nvPr/>
        </p:nvSpPr>
        <p:spPr>
          <a:xfrm>
            <a:off x="7772400" y="390448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기술 4"/>
          <p:cNvSpPr txBox="1"/>
          <p:nvPr/>
        </p:nvSpPr>
        <p:spPr>
          <a:xfrm>
            <a:off x="8092440" y="379476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FastAPI · gRPC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서버, 서버 간 통신</a:t>
            </a:r>
            <a:endParaRPr lang="en-US" sz="1400" dirty="0"/>
          </a:p>
        </p:txBody>
      </p:sp>
      <p:sp>
        <p:nvSpPr>
          <p:cNvPr id="17" name="점 5"/>
          <p:cNvSpPr/>
          <p:nvPr/>
        </p:nvSpPr>
        <p:spPr>
          <a:xfrm>
            <a:off x="7772400" y="445312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기술 5"/>
          <p:cNvSpPr txBox="1"/>
          <p:nvPr/>
        </p:nvSpPr>
        <p:spPr>
          <a:xfrm>
            <a:off x="8092440" y="434340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Spring Boot · MySQL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점수 계산, 기록 저장</a:t>
            </a:r>
            <a:endParaRPr lang="en-US" sz="1400" dirty="0"/>
          </a:p>
        </p:txBody>
      </p:sp>
      <p:sp>
        <p:nvSpPr>
          <p:cNvPr id="19" name="참고용 안내"/>
          <p:cNvSpPr txBox="1"/>
          <p:nvPr/>
        </p:nvSpPr>
        <p:spPr>
          <a:xfrm>
            <a:off x="7772400" y="4983480"/>
            <a:ext cx="3593592" cy="822960"/>
          </a:xfrm>
          <a:prstGeom prst="rect">
            <a:avLst/>
          </a:prstGeom>
          <a:solidFill>
            <a:srgbClr val="FFE9C7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참고용 지표입니다. 자세 안전성을 판정하지 않으며 스쿼트에만 적용합니다.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-PT Algorithm">
  <a:themeElements>
    <a:clrScheme name="HO-PT Algorithm">
      <a:dk1>
        <a:srgbClr val="1F2430"/>
      </a:dk1>
      <a:lt1>
        <a:srgbClr val="FFFFFF"/>
      </a:lt1>
      <a:dk2>
        <a:srgbClr val="2B3AD1"/>
      </a:dk2>
      <a:lt2>
        <a:srgbClr val="EEF0FF"/>
      </a:lt2>
      <a:accent1>
        <a:srgbClr val="2B3AD1"/>
      </a:accent1>
      <a:accent2>
        <a:srgbClr val="FF9F1C"/>
      </a:accent2>
      <a:accent3>
        <a:srgbClr val="14183A"/>
      </a:accent3>
      <a:accent4>
        <a:srgbClr val="5C6BFF"/>
      </a:accent4>
      <a:accent5>
        <a:srgbClr val="7A8099"/>
      </a:accent5>
      <a:accent6>
        <a:srgbClr val="1DB954"/>
      </a:accent6>
      <a:hlink>
        <a:srgbClr val="2B3AD1"/>
      </a:hlink>
      <a:folHlink>
        <a:srgbClr val="5C6BFF"/>
      </a:folHlink>
    </a:clrScheme>
    <a:fontScheme name="HO-PT Algorithm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알고리즘 상세</dc:title>
  <dc:subject>PptxGenJS Presentation</dc:subject>
  <dc:creator>HO-PT</dc:creator>
  <cp:lastModifiedBy>HO-PT</cp:lastModifiedBy>
  <cp:revision>1</cp:revision>
  <dcterms:created xsi:type="dcterms:W3CDTF">2026-10-14T02:30:00Z</dcterms:created>
  <dcterms:modified xsi:type="dcterms:W3CDTF">2026-10-14T02:30:00Z</dcterms:modified>
</cp:coreProperties>
</file>